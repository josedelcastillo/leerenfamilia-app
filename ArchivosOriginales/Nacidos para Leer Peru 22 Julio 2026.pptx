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Raleway" pitchFamily="2" charset="0"/>
      <p:regular r:id="rId19"/>
    </p:embeddedFont>
    <p:embeddedFont>
      <p:font typeface="Raleway Bold" pitchFamily="2" charset="0"/>
      <p:regular r:id="rId20"/>
    </p:embeddedFont>
    <p:embeddedFont>
      <p:font typeface="Roboto" panose="02000000000000000000" pitchFamily="2" charset="0"/>
      <p:regular r:id="rId21"/>
    </p:embeddedFont>
    <p:embeddedFont>
      <p:font typeface="Roboto Bold" panose="02000000000000000000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939"/>
    <a:srgbClr val="0B2D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16" y="-60"/>
      </p:cViewPr>
      <p:guideLst>
        <p:guide orient="horz" pos="415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la Suarez Salazar" userId="69cdb39d2d8045c4" providerId="LiveId" clId="{10673EE9-91E5-4E0D-8BE3-E948DBDCF6C6}"/>
    <pc:docChg chg="custSel modSld">
      <pc:chgData name="Fabiola Suarez Salazar" userId="69cdb39d2d8045c4" providerId="LiveId" clId="{10673EE9-91E5-4E0D-8BE3-E948DBDCF6C6}" dt="2026-07-22T16:40:35.900" v="105" actId="6549"/>
      <pc:docMkLst>
        <pc:docMk/>
      </pc:docMkLst>
      <pc:sldChg chg="modSp mod">
        <pc:chgData name="Fabiola Suarez Salazar" userId="69cdb39d2d8045c4" providerId="LiveId" clId="{10673EE9-91E5-4E0D-8BE3-E948DBDCF6C6}" dt="2026-07-22T16:31:45.951" v="45" actId="20577"/>
        <pc:sldMkLst>
          <pc:docMk/>
          <pc:sldMk cId="0" sldId="259"/>
        </pc:sldMkLst>
        <pc:spChg chg="mod">
          <ac:chgData name="Fabiola Suarez Salazar" userId="69cdb39d2d8045c4" providerId="LiveId" clId="{10673EE9-91E5-4E0D-8BE3-E948DBDCF6C6}" dt="2026-07-22T16:31:45.951" v="45" actId="20577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Fabiola Suarez Salazar" userId="69cdb39d2d8045c4" providerId="LiveId" clId="{10673EE9-91E5-4E0D-8BE3-E948DBDCF6C6}" dt="2026-07-22T16:36:10.269" v="65" actId="6549"/>
        <pc:sldMkLst>
          <pc:docMk/>
          <pc:sldMk cId="0" sldId="264"/>
        </pc:sldMkLst>
        <pc:spChg chg="mod">
          <ac:chgData name="Fabiola Suarez Salazar" userId="69cdb39d2d8045c4" providerId="LiveId" clId="{10673EE9-91E5-4E0D-8BE3-E948DBDCF6C6}" dt="2026-07-22T16:36:10.269" v="65" actId="6549"/>
          <ac:spMkLst>
            <pc:docMk/>
            <pc:sldMk cId="0" sldId="264"/>
            <ac:spMk id="22" creationId="{00000000-0000-0000-0000-000000000000}"/>
          </ac:spMkLst>
        </pc:spChg>
      </pc:sldChg>
      <pc:sldChg chg="modSp mod">
        <pc:chgData name="Fabiola Suarez Salazar" userId="69cdb39d2d8045c4" providerId="LiveId" clId="{10673EE9-91E5-4E0D-8BE3-E948DBDCF6C6}" dt="2026-07-22T16:37:28.416" v="101" actId="20577"/>
        <pc:sldMkLst>
          <pc:docMk/>
          <pc:sldMk cId="0" sldId="265"/>
        </pc:sldMkLst>
        <pc:spChg chg="mod">
          <ac:chgData name="Fabiola Suarez Salazar" userId="69cdb39d2d8045c4" providerId="LiveId" clId="{10673EE9-91E5-4E0D-8BE3-E948DBDCF6C6}" dt="2026-07-22T16:37:28.416" v="101" actId="2057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Fabiola Suarez Salazar" userId="69cdb39d2d8045c4" providerId="LiveId" clId="{10673EE9-91E5-4E0D-8BE3-E948DBDCF6C6}" dt="2026-07-21T21:12:32.760" v="2" actId="113"/>
          <ac:spMkLst>
            <pc:docMk/>
            <pc:sldMk cId="0" sldId="265"/>
            <ac:spMk id="28" creationId="{00000000-0000-0000-0000-000000000000}"/>
          </ac:spMkLst>
        </pc:spChg>
      </pc:sldChg>
      <pc:sldChg chg="modSp mod">
        <pc:chgData name="Fabiola Suarez Salazar" userId="69cdb39d2d8045c4" providerId="LiveId" clId="{10673EE9-91E5-4E0D-8BE3-E948DBDCF6C6}" dt="2026-07-22T16:40:35.900" v="105" actId="6549"/>
        <pc:sldMkLst>
          <pc:docMk/>
          <pc:sldMk cId="0" sldId="271"/>
        </pc:sldMkLst>
        <pc:spChg chg="mod">
          <ac:chgData name="Fabiola Suarez Salazar" userId="69cdb39d2d8045c4" providerId="LiveId" clId="{10673EE9-91E5-4E0D-8BE3-E948DBDCF6C6}" dt="2026-07-22T16:40:35.900" v="105" actId="6549"/>
          <ac:spMkLst>
            <pc:docMk/>
            <pc:sldMk cId="0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7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A5711-B4F4-1083-2B20-AB32AFDED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6336" y="88884"/>
            <a:ext cx="1492327" cy="60963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houtandread.or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0962"/>
            <a:ext cx="694632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A8D8EA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PILOTO CLÍNICO 2026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781870"/>
            <a:ext cx="6336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B3A6B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Nacidos para Leer Perú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561530"/>
            <a:ext cx="6336745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Promoviendo el desarrollo infantil desde el nacimiento mediante la lectura compartida.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487440"/>
            <a:ext cx="6336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262338"/>
            <a:ext cx="694632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 err="1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Propuesta</a:t>
            </a:r>
            <a:r>
              <a:rPr lang="en-US" sz="11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Leer </a:t>
            </a:r>
            <a:r>
              <a:rPr lang="en-US" sz="1150" dirty="0" err="1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1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familia  para clínicas privadas del Perú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27" y="1393527"/>
            <a:ext cx="4070744" cy="4070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D528EA-0E22-B352-D991-4CCDEF240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29" y="4732423"/>
            <a:ext cx="919271" cy="3755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2790ED-716A-D22B-7D20-9086C701D899}"/>
              </a:ext>
            </a:extLst>
          </p:cNvPr>
          <p:cNvSpPr txBox="1"/>
          <p:nvPr/>
        </p:nvSpPr>
        <p:spPr>
          <a:xfrm>
            <a:off x="546100" y="6188906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Confidencial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| </a:t>
            </a:r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Documento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preparado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exclusivamente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la </a:t>
            </a:r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evaluación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Clínica [            ].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6480"/>
            <a:ext cx="6296860" cy="1657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consulta pediátrica es una oportunidad única para cambiar el futuro de un niño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175" y="2580680"/>
            <a:ext cx="353508" cy="3535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21551" y="2603302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total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221551" y="3003947"/>
            <a:ext cx="573678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Casi todos los niños asisten a controles desde el nacimiento.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06589"/>
            <a:ext cx="353508" cy="3535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21551" y="3567311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Confianza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221551" y="3942556"/>
            <a:ext cx="573678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pediatra es la voz más creíble para las familias.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46798"/>
            <a:ext cx="353508" cy="3535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21551" y="4607520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Continuidad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221551" y="4982766"/>
            <a:ext cx="573678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Refuerzo del mensaje en cada control programado.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587008"/>
            <a:ext cx="353508" cy="35351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21551" y="5647730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Eficiencia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221551" y="6022975"/>
            <a:ext cx="573678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nueva infraestructura: integrado al sistema existente.</a:t>
            </a:r>
            <a:endParaRPr lang="en-US" sz="13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25340B-3C19-5190-A9A8-923EF647A388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8DDF09-4C69-7305-05AA-C421E454BC4A}"/>
              </a:ext>
            </a:extLst>
          </p:cNvPr>
          <p:cNvSpPr txBox="1"/>
          <p:nvPr/>
        </p:nvSpPr>
        <p:spPr>
          <a:xfrm>
            <a:off x="36449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087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consulta pediátrica se convierte en el punto de partida para crear hábitos de lectura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68019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modelo probado que transforma millones de familias.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242469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1475" y="352772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▶</a:t>
            </a:r>
            <a:r>
              <a:rPr lang="en-US" sz="1450" b="1" dirty="0">
                <a:solidFill>
                  <a:srgbClr val="0B2D5C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 Video: Reach Out and Read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9E9E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 – 90 segundos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392414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1475" y="467766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Reach Out and Read es un programa desarrollado en Estados Unidos hace más de 35 años, que integra la promoción de la lectura a la atención pediátrica desde el nacimiento.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6682" y="5495131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b="1" u="sng" dirty="0">
                <a:solidFill>
                  <a:srgbClr val="BDBDB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reachoutandread.org</a:t>
            </a:r>
            <a:endParaRPr lang="en-US" sz="11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BE1861-5C88-FE47-5A96-AB0170398F2D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C8E4F6-1977-EA95-AC8A-85A110440E1E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43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ahora?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13024"/>
            <a:ext cx="661475" cy="661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 científica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35+ años de investigación respaldan la lectura temprana como estándar global.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813024"/>
            <a:ext cx="661475" cy="661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Experiencia local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Leer en Familia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demuestra el interés genuino de las familias peruanas.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661475" cy="6614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500003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Consulta pediátrica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408712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canal pediátrico llega a todos los niños desde el primer día de vida.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661475" cy="6614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500003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Peruano: </a:t>
            </a:r>
            <a:r>
              <a:rPr lang="en-US" sz="1850" dirty="0" err="1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Nacidos</a:t>
            </a:r>
            <a:r>
              <a:rPr lang="en-US" sz="18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para Leer Perú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408712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sostenible y escalable, del sector privado al sistema público.</a:t>
            </a:r>
            <a:endParaRPr lang="en-US" sz="14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B2DF5F-0F21-EB5C-5526-EFA16580134F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F79AEC-AC39-EDBF-A587-E9C82BA81255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evidencia científica respalda esta intervención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234182"/>
            <a:ext cx="5373851" cy="2062262"/>
          </a:xfrm>
          <a:prstGeom prst="roundRect">
            <a:avLst>
              <a:gd name="adj" fmla="val 308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1730" y="1404441"/>
            <a:ext cx="5033340" cy="65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1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4×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31730" y="2129036"/>
            <a:ext cx="50333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Más lectura en familia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1730" y="2437805"/>
            <a:ext cx="50333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padres que participan en programas de promoción de la lectura tienen hasta cuatro veces más probabilidades de leer con sus hijos.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31730" y="2945705"/>
            <a:ext cx="50333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et al.; Mendelsohn et 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56270" y="1234182"/>
            <a:ext cx="5373950" cy="2062262"/>
          </a:xfrm>
          <a:prstGeom prst="roundRect">
            <a:avLst>
              <a:gd name="adj" fmla="val 308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26525" y="1404441"/>
            <a:ext cx="5033440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1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📖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326525" y="2135386"/>
            <a:ext cx="50334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 desarrollo del lenguaje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26525" y="2444155"/>
            <a:ext cx="50334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lectura compartida desde los primeros meses favorece el desarrollo del lenguaje y las habilidades de alfabetización temprana.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26525" y="2952055"/>
            <a:ext cx="50334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Zuckerman et al.; American Academy of Pediatrics.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1475" y="3417391"/>
            <a:ext cx="5373851" cy="2055912"/>
          </a:xfrm>
          <a:prstGeom prst="roundRect">
            <a:avLst>
              <a:gd name="adj" fmla="val 30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1730" y="3587651"/>
            <a:ext cx="5033340" cy="65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1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35+</a:t>
            </a:r>
            <a:endParaRPr lang="en-US" sz="4100" dirty="0"/>
          </a:p>
        </p:txBody>
      </p:sp>
      <p:sp>
        <p:nvSpPr>
          <p:cNvPr id="15" name="Text 13"/>
          <p:cNvSpPr/>
          <p:nvPr/>
        </p:nvSpPr>
        <p:spPr>
          <a:xfrm>
            <a:off x="831730" y="4312245"/>
            <a:ext cx="50333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Años de trayectoria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1730" y="4621014"/>
            <a:ext cx="50333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Reach Out and Read ha sido implementado durante más de tres décadas como parte de la atención pediátrica en Estados Unidos.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1730" y="5128915"/>
            <a:ext cx="50333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Reach Out and Read.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56270" y="3417391"/>
            <a:ext cx="5373950" cy="2055912"/>
          </a:xfrm>
          <a:prstGeom prst="roundRect">
            <a:avLst>
              <a:gd name="adj" fmla="val 30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6525" y="3587651"/>
            <a:ext cx="5033440" cy="65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1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6M</a:t>
            </a:r>
            <a:endParaRPr lang="en-US" sz="4100" dirty="0"/>
          </a:p>
        </p:txBody>
      </p:sp>
      <p:sp>
        <p:nvSpPr>
          <p:cNvPr id="20" name="Text 18"/>
          <p:cNvSpPr/>
          <p:nvPr/>
        </p:nvSpPr>
        <p:spPr>
          <a:xfrm>
            <a:off x="6326525" y="4312245"/>
            <a:ext cx="50334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Niños al año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26525" y="4621014"/>
            <a:ext cx="50334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año, Reach Out and Read llega a más de seis millones de niños y sus familias en todo el país.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26525" y="5128915"/>
            <a:ext cx="503344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Reach Out and Read.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1475" y="5647134"/>
            <a:ext cx="10868745" cy="1905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1475" y="5840016"/>
            <a:ext cx="10868745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American Academy of Pediatrics recomienda promover la lectura compartida desde el nacimiento como parte de la atención pediátrica. Fuente: Council on Early Childhood, American Academy of Pediatrics (2014).</a:t>
            </a:r>
            <a:endParaRPr lang="en-US" sz="9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5DC1DB-5812-AE6A-1C56-672AD12294BF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1CFD82-3E82-814A-4820-D964605B1E75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808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experiencia local que respalda esta iniciativa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90315"/>
            <a:ext cx="10868745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200" dirty="0">
                <a:solidFill>
                  <a:srgbClr val="0B2D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Antes de llevar la promoción de la lectura al entorno pediátrico, existe una experiencia en Perú que demuestra la capacidad de movilizar familias y construir alianzas para promover la lectura desde la primera infancia.</a:t>
            </a:r>
            <a:endParaRPr lang="en-US" sz="1200" dirty="0">
              <a:solidFill>
                <a:srgbClr val="0B2D5C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1524794"/>
            <a:ext cx="10868745" cy="1270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1475" y="1654671"/>
            <a:ext cx="3571389" cy="1621929"/>
          </a:xfrm>
          <a:prstGeom prst="roundRect">
            <a:avLst>
              <a:gd name="adj" fmla="val 313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020" y="1788220"/>
            <a:ext cx="3304299" cy="755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7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600</a:t>
            </a:r>
            <a:endParaRPr lang="en-US" sz="4750" dirty="0"/>
          </a:p>
        </p:txBody>
      </p:sp>
      <p:sp>
        <p:nvSpPr>
          <p:cNvPr id="7" name="Text 5"/>
          <p:cNvSpPr/>
          <p:nvPr/>
        </p:nvSpPr>
        <p:spPr>
          <a:xfrm>
            <a:off x="795020" y="2590403"/>
            <a:ext cx="330429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Familias incluidas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020" y="2825750"/>
            <a:ext cx="3304299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el proyecto de promoción de la lectura familiar en Perú.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10153" y="1654671"/>
            <a:ext cx="3571389" cy="1621929"/>
          </a:xfrm>
          <a:prstGeom prst="roundRect">
            <a:avLst>
              <a:gd name="adj" fmla="val 313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43698" y="1788220"/>
            <a:ext cx="3304299" cy="755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7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300</a:t>
            </a:r>
            <a:endParaRPr lang="en-US" sz="4750" dirty="0"/>
          </a:p>
        </p:txBody>
      </p:sp>
      <p:sp>
        <p:nvSpPr>
          <p:cNvPr id="11" name="Text 9"/>
          <p:cNvSpPr/>
          <p:nvPr/>
        </p:nvSpPr>
        <p:spPr>
          <a:xfrm>
            <a:off x="4443698" y="2590403"/>
            <a:ext cx="330429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Familias acompañadas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43698" y="2825750"/>
            <a:ext cx="3304299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Mediante visitas domiciliarias con seguimiento personalizado.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58831" y="1654671"/>
            <a:ext cx="3571389" cy="1621929"/>
          </a:xfrm>
          <a:prstGeom prst="roundRect">
            <a:avLst>
              <a:gd name="adj" fmla="val 313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92376" y="1788220"/>
            <a:ext cx="3304299" cy="755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7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4750" dirty="0"/>
          </a:p>
        </p:txBody>
      </p:sp>
      <p:sp>
        <p:nvSpPr>
          <p:cNvPr id="15" name="Text 13"/>
          <p:cNvSpPr/>
          <p:nvPr/>
        </p:nvSpPr>
        <p:spPr>
          <a:xfrm>
            <a:off x="8092376" y="2590403"/>
            <a:ext cx="330429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Promotores capacitados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92376" y="2825750"/>
            <a:ext cx="3304299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Promotores sociales formados en promoción lectora en primera infancia.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1475" y="3353891"/>
            <a:ext cx="10868745" cy="1463278"/>
          </a:xfrm>
          <a:prstGeom prst="roundRect">
            <a:avLst>
              <a:gd name="adj" fmla="val 347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020" y="3487440"/>
            <a:ext cx="10601655" cy="755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7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IBBY</a:t>
            </a:r>
            <a:endParaRPr lang="en-US" sz="4750" dirty="0"/>
          </a:p>
        </p:txBody>
      </p:sp>
      <p:sp>
        <p:nvSpPr>
          <p:cNvPr id="19" name="Text 17"/>
          <p:cNvSpPr/>
          <p:nvPr/>
        </p:nvSpPr>
        <p:spPr>
          <a:xfrm>
            <a:off x="795020" y="4289623"/>
            <a:ext cx="1060165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Respaldo Internacional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020" y="4524970"/>
            <a:ext cx="1060165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International Board on Books for Young People.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1475" y="4934347"/>
            <a:ext cx="10868745" cy="1270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1475" y="5093196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 err="1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Aliados</a:t>
            </a:r>
            <a:r>
              <a:rPr lang="en-US" sz="12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1200" dirty="0" err="1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institucionales</a:t>
            </a:r>
            <a:r>
              <a:rPr lang="en-US" sz="12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Leer </a:t>
            </a:r>
            <a:r>
              <a:rPr lang="en-US" sz="1200" dirty="0" err="1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</a:t>
            </a:r>
            <a:r>
              <a:rPr lang="en-US" sz="12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familia</a:t>
            </a:r>
            <a:endParaRPr lang="en-US" sz="1200" dirty="0">
              <a:solidFill>
                <a:srgbClr val="0B2D5C"/>
              </a:solidFill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398195"/>
            <a:ext cx="7064595" cy="47406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61475" y="5959277"/>
            <a:ext cx="10868745" cy="34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9000"/>
              </a:lnSpc>
              <a:spcAft>
                <a:spcPts val="650"/>
              </a:spcAft>
              <a:buNone/>
            </a:pPr>
            <a:endParaRPr lang="en-US" sz="7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D42755-10E5-2F95-5A57-7629121E1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728" y="3410525"/>
            <a:ext cx="1905098" cy="81919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AD9A923-F6AB-288F-D20F-4C1EC23044E0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181840-64BB-F8A8-CB79-EF52E26B2F1F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7755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consulta pediátrica ofrece una oportunidad única para llegar a todas las familias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2231231"/>
            <a:ext cx="3509180" cy="1594743"/>
          </a:xfrm>
          <a:prstGeom prst="roundRect">
            <a:avLst>
              <a:gd name="adj" fmla="val 472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7307" y="2417068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Desde el nacimiento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7307" y="2799854"/>
            <a:ext cx="313751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Cobertura universal: la gran mayoría de niños asisten a controles pediátricos desde sus primeros días de vida.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1208" y="2231231"/>
            <a:ext cx="3509180" cy="1594743"/>
          </a:xfrm>
          <a:prstGeom prst="roundRect">
            <a:avLst>
              <a:gd name="adj" fmla="val 472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27040" y="2417068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Relación de confianza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527040" y="2799854"/>
            <a:ext cx="313751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pediatra como guía: su consejo tiene la mayor credibilidad entre las familias en la primera infancia.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20941" y="2231231"/>
            <a:ext cx="3509180" cy="1594743"/>
          </a:xfrm>
          <a:prstGeom prst="roundRect">
            <a:avLst>
              <a:gd name="adj" fmla="val 472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06773" y="2417068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continuo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06773" y="2799854"/>
            <a:ext cx="313751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Refuerzo en el tiempo: los controles periódicos permiten consolidar el mensaje a lo largo del desarrollo.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1475" y="3996531"/>
            <a:ext cx="10868646" cy="1034554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7307" y="4182368"/>
            <a:ext cx="104969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Integración al flujo habitual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47307" y="4565154"/>
            <a:ext cx="104969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procesos extra: la intervención se incorpora naturalmente a la atención existente sin carga adicional.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475" y="5267821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1475" y="5529957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0B2D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consulta pediátrica convierte una recomendación basada en evidencia en una práctica sistemática de promoción del desarrollo infantil.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5B10B9-A28E-C518-7DE4-0201BF0CD678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CE97F2-6E14-D320-3A1D-95CACF03B28E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36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modelo diseñado para el contexto peruano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0534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Nacidos para Leer Perú integra evidencia internacional, experiencia local y la práctica pediátrica en un solo modelo, adaptándose a las necesidades específicas del país.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22810"/>
            <a:ext cx="3496877" cy="348337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8183" y="2486720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5881" y="310425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Reach Out and Read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3512939"/>
            <a:ext cx="306806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📊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Evidencia científica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🩺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Consejería pediátrica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📚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Entrega de libros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322810"/>
            <a:ext cx="3496877" cy="348337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4067" y="2486720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61766" y="310425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Leer en Familia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4561766" y="3512939"/>
            <a:ext cx="306806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🇵🇪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Experiencia peruana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👨‍👩‍👧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Trabajo con familias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📖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Lectura compartida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322810"/>
            <a:ext cx="3496877" cy="348337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9952" y="2486720"/>
            <a:ext cx="283461" cy="2834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47650" y="3104257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Nacidos para Leer Perú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8247650" y="3512939"/>
            <a:ext cx="3068065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🏥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Metodología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propia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implementación</a:t>
            </a:r>
            <a:endParaRPr lang="en-US" sz="1450" dirty="0"/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🩺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Capacitación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 </a:t>
            </a:r>
            <a:r>
              <a:rPr lang="en-US" sz="145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45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salud</a:t>
            </a:r>
            <a:endParaRPr lang="en-US" sz="1450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Acompañamiento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semanal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durante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</a:t>
            </a:r>
            <a:r>
              <a:rPr lang="en-US" sz="145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piloto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📋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</a:t>
            </a:r>
            <a:endParaRPr lang="en-US" sz="14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 err="1"/>
              <a:t>Adaptación</a:t>
            </a:r>
            <a:r>
              <a:rPr lang="en-US" sz="1450" dirty="0"/>
              <a:t> al </a:t>
            </a:r>
            <a:r>
              <a:rPr lang="en-US" sz="1450" dirty="0" err="1"/>
              <a:t>contexto</a:t>
            </a:r>
            <a:r>
              <a:rPr lang="en-US" sz="1450" dirty="0"/>
              <a:t> de </a:t>
            </a:r>
            <a:r>
              <a:rPr lang="en-US" sz="1450" dirty="0" err="1"/>
              <a:t>salud</a:t>
            </a:r>
            <a:r>
              <a:rPr lang="en-US" sz="1450" dirty="0"/>
              <a:t> del </a:t>
            </a:r>
            <a:r>
              <a:rPr lang="en-US" sz="1450" dirty="0" err="1"/>
              <a:t>sistema</a:t>
            </a:r>
            <a:r>
              <a:rPr lang="en-US" sz="1450" dirty="0"/>
              <a:t> </a:t>
            </a:r>
            <a:r>
              <a:rPr lang="en-US" sz="1450" dirty="0" err="1"/>
              <a:t>peruano</a:t>
            </a:r>
            <a:r>
              <a:rPr lang="en-US" sz="1450" dirty="0"/>
              <a:t>.</a:t>
            </a:r>
          </a:p>
        </p:txBody>
      </p:sp>
      <p:sp>
        <p:nvSpPr>
          <p:cNvPr id="16" name="Text 8"/>
          <p:cNvSpPr/>
          <p:nvPr/>
        </p:nvSpPr>
        <p:spPr>
          <a:xfrm>
            <a:off x="356682" y="580290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Nacidos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Leer Perú integra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evidencia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internacional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experiencia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peruana y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una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metodología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propia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implementación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adaptada</a:t>
            </a:r>
            <a:endParaRPr lang="en-US" sz="1400" dirty="0">
              <a:solidFill>
                <a:srgbClr val="0B2D5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>
              <a:lnSpc>
                <a:spcPct val="133000"/>
              </a:lnSpc>
            </a:pP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salud</a:t>
            </a:r>
            <a:r>
              <a:rPr lang="en-US" sz="14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del </a:t>
            </a:r>
            <a:r>
              <a:rPr lang="en-US" sz="1400" dirty="0" err="1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país</a:t>
            </a:r>
            <a:r>
              <a:rPr lang="en-US" sz="160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r>
              <a:rPr lang="en-US" sz="1450" dirty="0">
                <a:solidFill>
                  <a:srgbClr val="0B2D5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lang="en-US" sz="14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BCBD66-AD4F-8204-0B1D-65B0C7F4BEAF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3F1863-192E-072D-DB71-8C0D25BA5B32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0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 Operativo de Nacidos para Leer Perú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02680"/>
            <a:ext cx="3496877" cy="567035"/>
          </a:xfrm>
          <a:prstGeom prst="roundRect">
            <a:avLst>
              <a:gd name="adj" fmla="val 4800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8183" y="1744365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235872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del recién nacido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276740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bebé es registrado e incorporado al programa.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347359" y="1602680"/>
            <a:ext cx="3496877" cy="567035"/>
          </a:xfrm>
          <a:prstGeom prst="roundRect">
            <a:avLst>
              <a:gd name="adj" fmla="val 4800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4067" y="1744365"/>
            <a:ext cx="283461" cy="283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36366" y="235872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Primer control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36366" y="276740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médico orienta a la familia sobre lectura en voz alta.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033244" y="1602680"/>
            <a:ext cx="3496877" cy="567035"/>
          </a:xfrm>
          <a:prstGeom prst="roundRect">
            <a:avLst>
              <a:gd name="adj" fmla="val 4800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9952" y="1744365"/>
            <a:ext cx="283461" cy="2834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2251" y="235872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y registro QR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22251" y="276740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familia recibe el kit y queda registrada al instante.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61475" y="3750270"/>
            <a:ext cx="3496877" cy="567035"/>
          </a:xfrm>
          <a:prstGeom prst="roundRect">
            <a:avLst>
              <a:gd name="adj" fmla="val 4800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8183" y="3891955"/>
            <a:ext cx="283461" cy="2834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0482" y="450631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850482" y="491499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Contenidos y seguimiento continuo desde el celular.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4347359" y="3750270"/>
            <a:ext cx="3496877" cy="567035"/>
          </a:xfrm>
          <a:prstGeom prst="roundRect">
            <a:avLst>
              <a:gd name="adj" fmla="val 4800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4067" y="3891955"/>
            <a:ext cx="283461" cy="2834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36366" y="450631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4536366" y="491499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mide el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se ajusta el modelo del piloto.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356682" y="592147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B2D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programa se integra al recorrido habitual de la familia desde el nacimiento, sin alterar la operación clínica.</a:t>
            </a:r>
            <a:endParaRPr lang="en-US" sz="14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BBA999-75EE-2326-5818-4096D84BE67C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921338-8025-C332-FA14-E660D83CCE3D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incluye el programa piloto?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56682" y="1106289"/>
            <a:ext cx="11478330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s-ES" sz="1200" dirty="0">
                <a:solidFill>
                  <a:srgbClr val="0B2D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valor del piloto reside en un modelo integral de implementación, capacitación, acompañamiento y evaluación desarrollado por Leer en Familia.</a:t>
            </a:r>
            <a:endParaRPr lang="en-US" sz="1200" dirty="0">
              <a:solidFill>
                <a:srgbClr val="0B2D5C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84114"/>
            <a:ext cx="260443" cy="260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4032" y="1528862"/>
            <a:ext cx="3001193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Clínica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34032" y="1822053"/>
            <a:ext cx="3001193" cy="590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Capacitación al equipo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Integración al flujo asistencial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Seguimiento de indicadores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9265" y="1484114"/>
            <a:ext cx="260443" cy="2604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31822" y="1528862"/>
            <a:ext cx="311310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Nacidos para Leer Perú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731822" y="1822053"/>
            <a:ext cx="3113109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Coordinación del piloto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Kits de lectura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de acompañamiento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Monitoreo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de resultados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68971" y="1484114"/>
            <a:ext cx="260443" cy="2604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41529" y="1528862"/>
            <a:ext cx="3001193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Familias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541529" y="1822053"/>
            <a:ext cx="3001193" cy="798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Participación voluntaria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Lectura compartida en el hogar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Interacción mediante WhatsApp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Encuesta final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56682" y="3029347"/>
            <a:ext cx="11478330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B2D5C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 piloto estructurado, medible y de baja carga operativa para la clínica.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61475" y="3338810"/>
            <a:ext cx="10868745" cy="1905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61475" y="3524945"/>
            <a:ext cx="10868745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Duración y acompañamiento del piloto</a:t>
            </a:r>
            <a:endParaRPr lang="en-US" sz="2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985022"/>
            <a:ext cx="3622882" cy="5208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1647" y="4595614"/>
            <a:ext cx="336253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 1: Preparación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91647" y="4852888"/>
            <a:ext cx="3362539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semanas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91647" y="5082679"/>
            <a:ext cx="3362539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Capacitación del equipo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Coordinación operativa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3985022"/>
            <a:ext cx="3622882" cy="52089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14529" y="4595614"/>
            <a:ext cx="336253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 2: Implementación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4414529" y="4852888"/>
            <a:ext cx="3362539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 semanas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414529" y="5082679"/>
            <a:ext cx="3362539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Entrega de </a:t>
            </a: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tarjeta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0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bienvenida</a:t>
            </a:r>
            <a:endParaRPr lang="en-US" sz="10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Entrega de kits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Consejería en controles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Acompañamiento y evaluación semanal de Leer en Familia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7239" y="3985022"/>
            <a:ext cx="3622882" cy="52089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37411" y="4595614"/>
            <a:ext cx="336253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 3: Evaluación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8037411" y="4852888"/>
            <a:ext cx="3362539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semanas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8037411" y="5082679"/>
            <a:ext cx="3362539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Consolidación de resultados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Informe final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356682" y="6080522"/>
            <a:ext cx="11478330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Duración total del piloto: 12 semanas</a:t>
            </a: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 acompañamiento semanal de Leer en Familia durante toda la etapa de implementación.</a:t>
            </a:r>
            <a:endParaRPr lang="en-US" sz="1000" b="1" dirty="0">
              <a:solidFill>
                <a:srgbClr val="3C3939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562AF7-8966-9963-06C1-CDE5948A30D8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1D08EB-FF0A-ADB8-3B61-AC006B80D368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89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Roles y responsabilidades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45742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510631"/>
            <a:ext cx="26634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Clínica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2994918"/>
            <a:ext cx="2663461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Designar un líder del piloto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Facilitar la capacitación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Incorporar la consejería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Apoyar el seguimiento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691" y="2445742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0938" y="2510631"/>
            <a:ext cx="27766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Nacidos para Leer Perú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20938" y="2994918"/>
            <a:ext cx="2776666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Coordinar la implementación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Capacitar al personal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Proveer kits y materiales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Gestionar acompañamiento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Monitorear y evaluar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5112" y="2445742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79360" y="2510631"/>
            <a:ext cx="26634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Familias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879360" y="2994918"/>
            <a:ext cx="2663461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Participación voluntaria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Lectura compartida en el hogar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Encuesta de evaluación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356682" y="519658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B2D5C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Cada actor tiene responsabilidades claramente definidas para facilitar una implementación eficiente.</a:t>
            </a:r>
            <a:endParaRPr lang="en-US" sz="14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C7E83A-5895-D0CF-B8FA-F0A78B956071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58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¿Cómo mediremos el éxito del piloto?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4456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5328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lectura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86196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Familias que reciben el kit de lectura completo.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74456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245328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286196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Participación activa en el acompañamiento y sesiones de apoyo.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174456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245328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Frecuencia de lectura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2861965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Frecuencia de lectura compartida en el hogar.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44826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55354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Satisfacción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1475" y="496222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Satisfacción general de las familias con el programa.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3844826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63135" y="455354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Aprendizajes clave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63135" y="496222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Lecciones aprendidas para una futura implementación a gran escala.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356682" y="57796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B2D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piloto permitirá evaluar tanto la implementación como la experiencia de las familias.</a:t>
            </a:r>
            <a:endParaRPr lang="en-US" sz="14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415BD3-1309-B4EF-6D58-37AF81A596F0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8B6A8F-FB6B-A9BF-3F9A-9642D2C86B7C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451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 para la clínica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43187"/>
            <a:ext cx="3496877" cy="2001937"/>
          </a:xfrm>
          <a:prstGeom prst="roundRect">
            <a:avLst>
              <a:gd name="adj" fmla="val 396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6832" y="2038548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Fortalece la atención integral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742505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 la promoción de la lectura como parte del desarrollo infantil temprano.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843187"/>
            <a:ext cx="3496877" cy="2001937"/>
          </a:xfrm>
          <a:prstGeom prst="roundRect">
            <a:avLst>
              <a:gd name="adj" fmla="val 396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42716" y="2038548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Diferencia la experiencia de las familias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742505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 un servicio con alto valor percibido durante la atención pediátrica.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843187"/>
            <a:ext cx="3496877" cy="2001937"/>
          </a:xfrm>
          <a:prstGeom prst="roundRect">
            <a:avLst>
              <a:gd name="adj" fmla="val 396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8600" y="2038548"/>
            <a:ext cx="31061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Refuerza el compromiso institucional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742505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Contribuye a la promoción de la salud y la prevención desde los primeros años de vida.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034135"/>
            <a:ext cx="10868646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6832" y="4229497"/>
            <a:ext cx="104779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Posiciona a la clínica como referente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638179"/>
            <a:ext cx="104779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Lidera una iniciativa innovadora basada en evidencia científica y experiencia internacional.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5395813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82" y="568106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B2D5C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 programa que genera valor para los niños, las familias y la clínica.</a:t>
            </a:r>
            <a:endParaRPr lang="en-US" sz="14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3D00D2-CD5B-11F3-FAD4-17DEB5855EDE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F72CB8-4C91-B06B-B209-AAA98B2577A6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77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piloto a una implementación sostenible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26469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171527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Piloto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226469"/>
            <a:ext cx="3622882" cy="756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73364" y="3171527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226469"/>
            <a:ext cx="3622882" cy="7560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96246" y="3171527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Ajustes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655814"/>
            <a:ext cx="3622882" cy="7560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0482" y="460087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Escalamiento progresivo</a:t>
            </a:r>
            <a:endParaRPr lang="en-US" sz="1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3655814"/>
            <a:ext cx="3622882" cy="75604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473364" y="4600873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Integración permanente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356682" y="529778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B2D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piloto permitirá adaptar el modelo antes de su implementación a mayor escala.</a:t>
            </a:r>
            <a:endParaRPr lang="en-US" sz="14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6D3E69-C6B2-5D5A-44AD-765D0EC0C107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C6F39C-250C-CAFF-D7D9-6B8FF7B94655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458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Próximos pasos: Implementación del programa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61475" y="1193502"/>
            <a:ext cx="558191" cy="837307"/>
          </a:xfrm>
          <a:prstGeom prst="roundRect">
            <a:avLst>
              <a:gd name="adj" fmla="val 3600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897" y="1507530"/>
            <a:ext cx="209247" cy="2092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2652" y="1333004"/>
            <a:ext cx="1020756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Validación de la propuesta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22652" y="1612801"/>
            <a:ext cx="1020756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Revisión y aprobación final de los detalles del programa con stakeholders clave.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2133798"/>
            <a:ext cx="558191" cy="837307"/>
          </a:xfrm>
          <a:prstGeom prst="roundRect">
            <a:avLst>
              <a:gd name="adj" fmla="val 3600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97" y="2447826"/>
            <a:ext cx="209247" cy="209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2652" y="2273300"/>
            <a:ext cx="1020756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 la clínica piloto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322652" y="2553097"/>
            <a:ext cx="1020756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Selección y confirmación del centro pediátrico para la fase de prueba.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61475" y="3074095"/>
            <a:ext cx="558191" cy="837307"/>
          </a:xfrm>
          <a:prstGeom prst="roundRect">
            <a:avLst>
              <a:gd name="adj" fmla="val 3600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897" y="3388122"/>
            <a:ext cx="209247" cy="2092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2652" y="3213596"/>
            <a:ext cx="1020756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Planificación conjunta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322652" y="3493393"/>
            <a:ext cx="1020756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 detallado de la estrategia de implementación con los equipos de la clínica.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61475" y="4014391"/>
            <a:ext cx="558191" cy="837307"/>
          </a:xfrm>
          <a:prstGeom prst="roundRect">
            <a:avLst>
              <a:gd name="adj" fmla="val 3600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897" y="4328418"/>
            <a:ext cx="209247" cy="2092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2652" y="4153892"/>
            <a:ext cx="1020756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Capacitación del equipo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322652" y="4433689"/>
            <a:ext cx="1020756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Formación del personal médico y administrativo en los protocolos del programa.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61475" y="4954687"/>
            <a:ext cx="558191" cy="837307"/>
          </a:xfrm>
          <a:prstGeom prst="roundRect">
            <a:avLst>
              <a:gd name="adj" fmla="val 36000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5897" y="5268714"/>
            <a:ext cx="209247" cy="2092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2652" y="5094188"/>
            <a:ext cx="10207568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Inicio del piloto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322652" y="5373985"/>
            <a:ext cx="1020756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Lanzamiento oficial del programa en la clínica piloto y monitoreo inicial.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61475" y="5942707"/>
            <a:ext cx="10868745" cy="19050"/>
          </a:xfrm>
          <a:prstGeom prst="roundRect">
            <a:avLst>
              <a:gd name="adj" fmla="val 5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356682" y="6112470"/>
            <a:ext cx="11478330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50" i="1" dirty="0">
                <a:solidFill>
                  <a:srgbClr val="0B2D5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programa puede implementarse mediante un proceso estructurado y colaborativo.</a:t>
            </a:r>
            <a:endParaRPr 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AD49CE-2370-7369-6F05-C680DD8190BA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710577-5883-9F48-11F8-F4A552ABDD3A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28700"/>
            <a:ext cx="3844134" cy="3844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73116" y="1005086"/>
            <a:ext cx="6563355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B2D5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¿Les gustaría que la Clínica … sea la primera clínica del Perú en incoporar la promoción de la lectura como parte de la atención  pediátrica desde el nacimiento?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7170" y="3642891"/>
            <a:ext cx="6563355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Leer en Familia está en condiciones de iniciar el piloto en septiembre de 2026, en coordinación con el equipo de la clínica.</a:t>
            </a:r>
            <a:endParaRPr lang="en-US" sz="18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2805E-E87D-8AB4-07C2-8DB7252EE633}"/>
              </a:ext>
            </a:extLst>
          </p:cNvPr>
          <p:cNvSpPr txBox="1"/>
          <p:nvPr/>
        </p:nvSpPr>
        <p:spPr>
          <a:xfrm>
            <a:off x="661475" y="6400800"/>
            <a:ext cx="56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17E96-394D-3DFD-4EE8-C8FFDB277F7F}"/>
              </a:ext>
            </a:extLst>
          </p:cNvPr>
          <p:cNvSpPr txBox="1"/>
          <p:nvPr/>
        </p:nvSpPr>
        <p:spPr>
          <a:xfrm>
            <a:off x="4584700" y="6400800"/>
            <a:ext cx="2819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3C3939"/>
                </a:solidFill>
              </a:rPr>
              <a:t>www.leerenfamilia.pe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6A1BE-3E01-CC42-14E3-78300013AD18}"/>
              </a:ext>
            </a:extLst>
          </p:cNvPr>
          <p:cNvSpPr txBox="1"/>
          <p:nvPr/>
        </p:nvSpPr>
        <p:spPr>
          <a:xfrm>
            <a:off x="546100" y="5946291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Confidencial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| </a:t>
            </a:r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Documento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preparado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exclusivamente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la </a:t>
            </a:r>
            <a:r>
              <a:rPr lang="en-US" sz="9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evaluación</a:t>
            </a: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Clínica [            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BDBDBD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1527</Words>
  <Application>Microsoft Office PowerPoint</Application>
  <PresentationFormat>Widescreen</PresentationFormat>
  <Paragraphs>243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Raleway Bold</vt:lpstr>
      <vt:lpstr>Roboto</vt:lpstr>
      <vt:lpstr>Raleway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Fabiola Suarez Salazar</dc:creator>
  <cp:lastModifiedBy>Fabiola Suarez Salazar</cp:lastModifiedBy>
  <cp:revision>4</cp:revision>
  <dcterms:created xsi:type="dcterms:W3CDTF">2026-07-21T19:33:55Z</dcterms:created>
  <dcterms:modified xsi:type="dcterms:W3CDTF">2026-07-22T16:40:43Z</dcterms:modified>
</cp:coreProperties>
</file>